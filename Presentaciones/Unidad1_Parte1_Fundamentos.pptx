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1B998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2926080" cy="2926080"/>
          </a:xfrm>
          <a:prstGeom prst="ellipse">
            <a:avLst/>
          </a:prstGeom>
          <a:solidFill>
            <a:srgbClr val="E87722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SEGUNDO SEMESTRE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— Parte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C#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del entorno · Variables · Condicionales · Funciones · Iteración · Strings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5074920"/>
            <a:ext cx="777240" cy="777240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9" name="Image 0" descr="laptop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721" y="5175961"/>
            <a:ext cx="575158" cy="5751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San Carlos de Guatemala  ·  Facultad de Ingeniería  ·  Escuela de Ciencias y Sistemas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vamos a ver hoy?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" cy="512064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5" name="Image 0" descr="down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1758208"/>
            <a:ext cx="378927" cy="3789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0992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· 1.2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606040" y="1673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de C# 14 (.NET SDK 10) y Visual Studio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40080" y="2441448"/>
            <a:ext cx="512064" cy="512064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9" name="Image 1" descr="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" y="2508016"/>
            <a:ext cx="378927" cy="378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45973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1.3.1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606040" y="2423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expresiones y sentencias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640080" y="3191256"/>
            <a:ext cx="512064" cy="512064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13" name="Image 2" descr="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3257824"/>
            <a:ext cx="378927" cy="3789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20954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1.3.2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606040" y="31729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condicional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640080" y="3941064"/>
            <a:ext cx="512064" cy="512064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17" name="Image 3" descr="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4007632"/>
            <a:ext cx="378927" cy="3789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95935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1.3.3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2606040" y="392277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1650" dirty="0"/>
          </a:p>
        </p:txBody>
      </p:sp>
      <p:sp>
        <p:nvSpPr>
          <p:cNvPr id="20" name="Shape 14"/>
          <p:cNvSpPr/>
          <p:nvPr/>
        </p:nvSpPr>
        <p:spPr>
          <a:xfrm>
            <a:off x="640080" y="4690872"/>
            <a:ext cx="512064" cy="512064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21" name="Image 4" descr="syn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48" y="4757440"/>
            <a:ext cx="378927" cy="37892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47091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1.3.4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2606040" y="467258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</a:t>
            </a:r>
            <a:endParaRPr lang="en-US" sz="1650" dirty="0"/>
          </a:p>
        </p:txBody>
      </p:sp>
      <p:sp>
        <p:nvSpPr>
          <p:cNvPr id="24" name="Shape 17"/>
          <p:cNvSpPr/>
          <p:nvPr/>
        </p:nvSpPr>
        <p:spPr>
          <a:xfrm>
            <a:off x="640080" y="5440680"/>
            <a:ext cx="512064" cy="512064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25" name="Image 5" descr="quo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648" y="5507248"/>
            <a:ext cx="378927" cy="37892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17320" y="54589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1.3.5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2606040" y="54223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650" dirty="0"/>
          </a:p>
        </p:txBody>
      </p:sp>
      <p:sp>
        <p:nvSpPr>
          <p:cNvPr id="28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Fundamentos de C#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931920"/>
            <a:ext cx="4572000" cy="4572000"/>
          </a:xfrm>
          <a:prstGeom prst="ellipse">
            <a:avLst/>
          </a:prstGeom>
          <a:solidFill>
            <a:srgbClr val="1B998B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05840"/>
            <a:ext cx="960120" cy="960120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4" name="Image 0" descr="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776" y="1130656"/>
            <a:ext cx="710489" cy="7104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1.1 – 1.2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6974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Preparando el entorno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de C# 14 (.NET SDK 10) y configuración de Visual Studio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Fundamentos de C#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— INSTALACIÓN DEL LENGUAJE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.NET SDK 10 (C# 14)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SDK incluye el compilador de C#, el runtime y la herramienta dotnet CLI — todo lo necesario para compilar y ejecutar programas.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14600" cy="2651760"/>
          </a:xfrm>
          <a:prstGeom prst="roundRect">
            <a:avLst>
              <a:gd name="adj" fmla="val 3273"/>
            </a:avLst>
          </a:prstGeom>
          <a:solidFill>
            <a:srgbClr val="EAF6F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14600"/>
            <a:ext cx="502920" cy="50292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200400"/>
            <a:ext cx="211226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el instalador desde dotnet.microsoft.com/download (.NET 10)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19272" y="2286000"/>
            <a:ext cx="2514600" cy="2651760"/>
          </a:xfrm>
          <a:prstGeom prst="roundRect">
            <a:avLst>
              <a:gd name="adj" fmla="val 3273"/>
            </a:avLst>
          </a:prstGeom>
          <a:solidFill>
            <a:srgbClr val="FCEFE4"/>
          </a:solidFill>
          <a:ln/>
        </p:spPr>
      </p:sp>
      <p:sp>
        <p:nvSpPr>
          <p:cNvPr id="10" name="Shape 8"/>
          <p:cNvSpPr/>
          <p:nvPr/>
        </p:nvSpPr>
        <p:spPr>
          <a:xfrm>
            <a:off x="3547872" y="2514600"/>
            <a:ext cx="502920" cy="50292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20440" y="3200400"/>
            <a:ext cx="211226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el instalador .pkg (macOS) o .exe (Windows)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9904" y="2286000"/>
            <a:ext cx="2514600" cy="2651760"/>
          </a:xfrm>
          <a:prstGeom prst="roundRect">
            <a:avLst>
              <a:gd name="adj" fmla="val 3273"/>
            </a:avLst>
          </a:prstGeom>
          <a:solidFill>
            <a:srgbClr val="EAF6F4"/>
          </a:solidFill>
          <a:ln/>
        </p:spPr>
      </p:sp>
      <p:sp>
        <p:nvSpPr>
          <p:cNvPr id="14" name="Shape 12"/>
          <p:cNvSpPr/>
          <p:nvPr/>
        </p:nvSpPr>
        <p:spPr>
          <a:xfrm>
            <a:off x="6318504" y="2514600"/>
            <a:ext cx="502920" cy="50292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5" name="Text 13"/>
          <p:cNvSpPr/>
          <p:nvPr/>
        </p:nvSpPr>
        <p:spPr>
          <a:xfrm>
            <a:off x="6318504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91072" y="3200400"/>
            <a:ext cx="211226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en terminal: dotnet --version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60536" y="2286000"/>
            <a:ext cx="2514600" cy="2651760"/>
          </a:xfrm>
          <a:prstGeom prst="roundRect">
            <a:avLst>
              <a:gd name="adj" fmla="val 3273"/>
            </a:avLst>
          </a:prstGeom>
          <a:solidFill>
            <a:srgbClr val="FCEFE4"/>
          </a:solidFill>
          <a:ln/>
        </p:spPr>
      </p:sp>
      <p:sp>
        <p:nvSpPr>
          <p:cNvPr id="18" name="Shape 16"/>
          <p:cNvSpPr/>
          <p:nvPr/>
        </p:nvSpPr>
        <p:spPr>
          <a:xfrm>
            <a:off x="9089136" y="2514600"/>
            <a:ext cx="502920" cy="50292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9" name="Text 17"/>
          <p:cNvSpPr/>
          <p:nvPr/>
        </p:nvSpPr>
        <p:spPr>
          <a:xfrm>
            <a:off x="9089136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61704" y="3200400"/>
            <a:ext cx="211226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que aparece: 10.0.x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166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rápida en terminal: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486400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1E272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48640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dotnet --version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Fundamentos de C#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ENTORNO DE DESARROLLO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Studio / Rider / VS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F7F8F8"/>
          </a:solidFill>
          <a:ln w="12700">
            <a:solidFill>
              <a:srgbClr val="E3E7E6"/>
            </a:solidFill>
            <a:prstDash val="solid"/>
          </a:ln>
          <a:effectLst>
            <a:outerShdw sx="100000" sy="100000" kx="0" ky="0" algn="bl" rotWithShape="0" blurRad="101600" dist="38100" dir="5400000">
              <a:srgbClr val="D8DED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6" name="Image 0" descr="laptop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114" y="210083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Studio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completo de Microsoft. Incluye todo integrado — ideal en Windows.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F7F8F8"/>
          </a:solidFill>
          <a:ln w="12700">
            <a:solidFill>
              <a:srgbClr val="E3E7E6"/>
            </a:solidFill>
            <a:prstDash val="solid"/>
          </a:ln>
          <a:effectLst>
            <a:outerShdw sx="100000" sy="100000" kx="0" ky="0" algn="bl" rotWithShape="0" blurRad="101600" dist="38100" dir="5400000">
              <a:srgbClr val="D8DEDC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011680"/>
            <a:ext cx="685800" cy="685800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11" name="Image 1" descr="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154" y="210083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9260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JetBrains Rider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572000" y="342900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multiplataforma (macOS/Linux/Windows). Recomendado para el curso.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F7F8F8"/>
          </a:solidFill>
          <a:ln w="12700">
            <a:solidFill>
              <a:srgbClr val="E3E7E6"/>
            </a:solidFill>
            <a:prstDash val="solid"/>
          </a:ln>
          <a:effectLst>
            <a:outerShdw sx="100000" sy="100000" kx="0" ky="0" algn="bl" rotWithShape="0" blurRad="101600" dist="38100" dir="5400000">
              <a:srgbClr val="D8DEDC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011680"/>
            <a:ext cx="685800" cy="685800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16" name="Image 2" descr="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0194" y="210083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9260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21040" y="342900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liviano — requiere instalar C# Dev Kit y el SDK aparte.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5166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IPC2 se recomienda Rider — funciona igual en macOS, Windows y Linux.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Fundamentos de C#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931920"/>
            <a:ext cx="4572000" cy="4572000"/>
          </a:xfrm>
          <a:prstGeom prst="ellipse">
            <a:avLst/>
          </a:prstGeom>
          <a:solidFill>
            <a:srgbClr val="1B998B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05840"/>
            <a:ext cx="960120" cy="960120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4" name="Image 0" descr="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776" y="1130656"/>
            <a:ext cx="710489" cy="7104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1.3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6974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Programación básica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para practicar el entorno de desarrollo y la sintaxis fundamental de C#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Fundamentos de C#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1.3.1 — PROGRAMACIÓN BÁSICA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Variables, expresiones y sentencias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7303A"/>
                </a:solidFill>
              </a:rPr>
              <a:t>Una variable es un espacio en memoria con un nombre y un tipo de dato asociado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C# es fuertemente tipado: cada variable debe declarar su tipo (int, double, bool, string, char)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var permite que el compilador infiera el tipo automáticamente a partir del valor asignado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const declara un valor constante que no puede modificarse en tiempo de ejecución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Una expresión combina variables, operadores y valores para producir un resultado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600200"/>
          <a:ext cx="47091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880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'M'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7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"Carlos"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Fundamentos de C#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1.3.1 — CÓDIGO DE EJEMPLO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Declarando variables y expresiones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1E2724"/>
          </a:solidFill>
          <a:ln/>
          <a:effectLst>
            <a:outerShdw sx="100000" sy="100000" kx="0" ky="0" algn="bl" rotWithShape="0" blurRad="101600" dist="38100" dir="5400000">
              <a:srgbClr val="13322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5FD0BE"/>
          </a:solidFill>
          <a:ln/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9FC9C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60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Tipado explícito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edad = 22;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promedio = 88.5;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nombre = "Carlos";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Inferencia de tipo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curso = "IPC2";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Constante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double NOTA_MINIMA = 61.0;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Expresión + interpolación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promedioFinal = (85.5 + 90.0) / 2;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Console.WriteLine($"{nombre}: {promedioFinal:F2}");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ejemplo completo: 01_Variables_Expresiones/Program.cs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Fundamentos de C#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1.3.2 — PROGRAMACIÓN BÁSICA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Ejecución condicional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040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7303A"/>
                </a:solidFill>
              </a:rPr>
              <a:t>Permite que el programa tome decisiones y ejecute distinto código según una condición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if / else if / else evalúa condiciones en orden hasta encontrar una verdadera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El operador ternario ( ?: ) resume un if/else simple en una sola línea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switch expression compara un valor contra varios casos de forma más limpia que if/else anidados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Los operadores lógicos &amp;&amp; (Y) y || (O) combinan varias condiciones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9202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EAF6F4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2331720"/>
            <a:ext cx="960120" cy="960120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7" name="Image 0" descr="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696" y="2456536"/>
            <a:ext cx="710489" cy="7104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3520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else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83880" y="3886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Aprobado / Reprobado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Fundamentos de C#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1.3.2 — CÓDIGO DE EJEMPLO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ternario / switch expression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1E2724"/>
          </a:solidFill>
          <a:ln/>
          <a:effectLst>
            <a:outerShdw sx="100000" sy="100000" kx="0" ky="0" algn="bl" rotWithShape="0" blurRad="101600" dist="38100" dir="5400000">
              <a:srgbClr val="13322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5FD0BE"/>
          </a:solidFill>
          <a:ln/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9FC9C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60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promedio = 72.5;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 / else if / else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(promedio &gt;= 61)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Console.WriteLine("Aprobado");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Console.WriteLine("Reprobado");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Operador ternario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estado = promedio &gt;= 61 ? "Aprobado" : "Reprobado";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Switch expression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letra = promedio switch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&gt;= 90 =&gt; "A", &gt;= 80 =&gt; "B", &gt;= 61 =&gt; "D", _ =&gt; "F" };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ejemplo completo: 02_Condicionales/Program.cs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Fundamentos de C#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1.3.3 — PROGRAMACIÓN BÁSICA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040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7303A"/>
                </a:solidFill>
              </a:rPr>
              <a:t>Una función agrupa un bloque de código reutilizable bajo un nombre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Puede recibir parámetros de entrada y retornar un valor de salida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Las funciones void ejecutan una acción pero no retornan ningún valor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La sobrecarga (overloading) permite varias funciones con el mismo nombre pero distintos parámetros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Los parámetros opcionales tienen un valor por defecto si no se especifican al llamar la función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9202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CEFE4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2331720"/>
            <a:ext cx="960120" cy="960120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7" name="Image 0" descr="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696" y="2456536"/>
            <a:ext cx="710489" cy="7104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3520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→ salida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83880" y="3886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CalcularPromedio(n1, n2, n3)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Fundamentos de C#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1.3.3 — CÓDIGO DE EJEMPLO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Declaración, retorno y sobrecarga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1E2724"/>
          </a:solidFill>
          <a:ln/>
          <a:effectLst>
            <a:outerShdw sx="100000" sy="100000" kx="0" ky="0" algn="bl" rotWithShape="0" blurRad="101600" dist="38100" dir="5400000">
              <a:srgbClr val="13322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5FD0BE"/>
          </a:solidFill>
          <a:ln/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9FC9C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60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Función con retorno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CalcularPromedio(double n1, double n2, double n3)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(n1 + n2 + n3) / 3.0;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Función void — no retorna valor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MostrarResultado(string nombre, double promedio)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Console.WriteLine($"{nombre}: {promedio:F2}");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Sobrecarga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Sumar(int a, int b) =&gt; a + b;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Sumar(int a, int b, int c) =&gt; a + b + c;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ejemplo completo: 03_Funciones/Program.cs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Fundamentos de C#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1.3.4 — PROGRAMACIÓN BÁSICA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Iteración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040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7303A"/>
                </a:solidFill>
              </a:rPr>
              <a:t>Un ciclo repite un bloque de código mientras se cumpla una condición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for — se usa cuando se conoce la cantidad de repeticiones de antemano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while — repite mientras la condición sea verdadera; puede no ejecutarse nunca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do-while — se ejecuta al menos una vez antes de evaluar la condición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foreach — recorre cada elemento de una colección o arreglo directamente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9202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EAF6F4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2331720"/>
            <a:ext cx="960120" cy="960120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7" name="Image 0" descr="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696" y="2456536"/>
            <a:ext cx="710489" cy="7104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3520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repetición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83880" y="3886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· while · foreach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Fundamentos de C#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1.3.4 — CÓDIGO DE EJEMPLO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for, while y foreach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1E2724"/>
          </a:solidFill>
          <a:ln/>
          <a:effectLst>
            <a:outerShdw sx="100000" sy="100000" kx="0" ky="0" algn="bl" rotWithShape="0" blurRad="101600" dist="38100" dir="5400000">
              <a:srgbClr val="13322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5FD0BE"/>
          </a:solidFill>
          <a:ln/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9FC9C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60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double[] notas = { 85.0, 55.0, 91.5, 70.0 };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 — recorrido por índice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notas.Length; i++)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Console.WriteLine($"Nota {i + 1}: {notas[i]}");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foreach — recorrido directo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suma = 0;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(double nota in notas)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suma += nota;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while — repite mientras sea verdadero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j = 0;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(j &lt; notas.Length) { /* ... */ j++; }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ejemplo completo: 04_Iteracion/Program.cs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Fundamentos de C#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1.3.5 — PROGRAMACIÓN BÁSICA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040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7303A"/>
                </a:solidFill>
              </a:rPr>
              <a:t>string representa texto — una secuencia inmutable de caracteres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Métodos comunes: Trim(), ToUpper(), ToLower(), Contains(), Replace(), Substring()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Split() separa un texto en partes según un delimitador — muy útil para procesar datos tipo CSV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int.Parse() / double.Parse() convierten texto a valores numéricos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La interpolación ($"texto {variable}") es la forma preferida de construir strings dinámicos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9202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CEFE4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2331720"/>
            <a:ext cx="960120" cy="960120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7" name="Image 0" descr="qu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696" y="2456536"/>
            <a:ext cx="710489" cy="7104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3520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texto dinámico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83880" y="3886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$"Hola {nombre}"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Fundamentos de C#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1.3.5 — CÓDIGO DE EJEMPLO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de string y Split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1E2724"/>
          </a:solidFill>
          <a:ln/>
          <a:effectLst>
            <a:outerShdw sx="100000" sy="100000" kx="0" ky="0" algn="bl" rotWithShape="0" blurRad="101600" dist="38100" dir="5400000">
              <a:srgbClr val="13322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5FD0BE"/>
          </a:solidFill>
          <a:ln/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9FC9C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60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texto = "  Curso IPC2  ";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Console.WriteLine(texto.Trim());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Console.WriteLine(texto.ToUpper());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Split — procesar una línea tipo CSV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linea = "Carlos Lima,202300001,88.5";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partes = linea.Split(',');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nombre = partes[0];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 carne  = int.Parse(partes[1]);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nota   = double.Parse(partes[2]);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ejemplo completo: 05_Strings/Program.cs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Fundamentos de C#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1B998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4" name="Image 0" descr="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3075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LA SESIÓN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completados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22960" y="38862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FE8E3"/>
                </a:solidFill>
              </a:rPr>
              <a:t>Ya podés instalar tu entorno y escribir variables, condicionales, funciones, ciclos y strings en C#.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FC9C2"/>
                </a:solidFill>
              </a:rPr>
              <a:t>Próxima sesión — Unidad 1, Parte 2: Programación Orientada a Objetos (Clases, Herencia, Polimorfismo, Abstracción).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Fundamentos de C#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2026-07-19T20:46:44Z</dcterms:created>
  <dcterms:modified xsi:type="dcterms:W3CDTF">2026-07-19T20:46:44Z</dcterms:modified>
</cp:coreProperties>
</file>